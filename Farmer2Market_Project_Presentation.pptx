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Farmer2Market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/>
            </a:pPr>
            <a:r>
              <a:t>Blockchain-Powered Agricultural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Agricultural Supply Chain Challenges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For Farmers:</a:t>
            </a:r>
          </a:p>
          <a:p>
            <a:pPr>
              <a:defRPr sz="1800"/>
            </a:pPr>
            <a:r>
              <a:t>• Middlemen reduce profit margins by 30-50%</a:t>
            </a:r>
          </a:p>
          <a:p>
            <a:pPr>
              <a:defRPr sz="1800"/>
            </a:pPr>
            <a:r>
              <a:t>• Delayed and uncertain payments</a:t>
            </a:r>
          </a:p>
          <a:p>
            <a:pPr>
              <a:defRPr sz="1800"/>
            </a:pPr>
            <a:r>
              <a:t>• Limited market access</a:t>
            </a:r>
          </a:p>
          <a:p>
            <a:pPr>
              <a:defRPr sz="1800"/>
            </a:pPr>
            <a:r>
              <a:t>• Unfair pricing practices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For Consumers:</a:t>
            </a:r>
          </a:p>
          <a:p>
            <a:pPr>
              <a:defRPr sz="1800"/>
            </a:pPr>
            <a:r>
              <a:t>• Higher prices due to intermediaries</a:t>
            </a:r>
          </a:p>
          <a:p>
            <a:pPr>
              <a:defRPr sz="1800"/>
            </a:pPr>
            <a:r>
              <a:t>• Lack of product freshness</a:t>
            </a:r>
          </a:p>
          <a:p>
            <a:pPr>
              <a:defRPr sz="1800"/>
            </a:pPr>
            <a:r>
              <a:t>• No transparency in sourcing</a:t>
            </a:r>
          </a:p>
          <a:p>
            <a:pPr>
              <a:defRPr sz="1800"/>
            </a:pPr>
            <a:r>
              <a:t>• Limited trust in authenticity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**Gap:** No secure platform with payment protection and direct connection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Farmer2Market Platform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Direct Marketplace with Blockchain Escrow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1. Multi-Role System</a:t>
            </a:r>
          </a:p>
          <a:p>
            <a:pPr>
              <a:defRPr sz="1800"/>
            </a:pPr>
            <a:r>
              <a:t>• Buyer, Farmer, Delivery Partner, Admin portals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2. Blockchain Escrow</a:t>
            </a:r>
          </a:p>
          <a:p>
            <a:pPr>
              <a:defRPr sz="1800"/>
            </a:pPr>
            <a:r>
              <a:t>• Smart contract holds payment until delivery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3. Payment Integration</a:t>
            </a:r>
          </a:p>
          <a:p>
            <a:pPr>
              <a:defRPr sz="1800"/>
            </a:pPr>
            <a:r>
              <a:t>• Razorpay for online payments + COD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4. Delivery Tracking</a:t>
            </a:r>
          </a:p>
          <a:p>
            <a:pPr>
              <a:defRPr sz="1800"/>
            </a:pPr>
            <a:r>
              <a:t>• Real-time GPS tracking and proof of delivery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5. Complete Order Management</a:t>
            </a:r>
          </a:p>
          <a:p>
            <a:pPr>
              <a:defRPr sz="1800"/>
            </a:pPr>
            <a:r>
              <a:t>• End-to-end order lifecycle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Algorithms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1. Cryptographic Algorithms</a:t>
            </a:r>
          </a:p>
          <a:p>
            <a:pPr>
              <a:defRPr sz="1800"/>
            </a:pPr>
            <a:r>
              <a:t>• PBKDF2-SHA256 - Password hashing</a:t>
            </a:r>
          </a:p>
          <a:p>
            <a:pPr>
              <a:defRPr sz="1800"/>
            </a:pPr>
            <a:r>
              <a:t>• HMAC-SHA256 - Payment signature verification</a:t>
            </a:r>
          </a:p>
          <a:p>
            <a:pPr>
              <a:defRPr sz="1800"/>
            </a:pPr>
            <a:r>
              <a:t>• Keccak-256 - Blockchain hashing (Ethereum)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2. Escrow State Machine Algorithm</a:t>
            </a:r>
          </a:p>
          <a:p>
            <a:pPr>
              <a:defRPr sz="1800"/>
            </a:pPr>
            <a:r>
              <a:t>• Order state transitions: PAID → CONFIRMED → DELIVERY → COMPLETED</a:t>
            </a:r>
          </a:p>
          <a:p>
            <a:pPr>
              <a:defRPr sz="1800"/>
            </a:pPr>
            <a:r>
              <a:t>• Conditional fund release based on delivery proof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3. OTP Generation Algorithm</a:t>
            </a:r>
          </a:p>
          <a:p>
            <a:pPr>
              <a:defRPr sz="1800"/>
            </a:pPr>
            <a:r>
              <a:t>• Random number generation (6-digit OTP)</a:t>
            </a:r>
          </a:p>
          <a:p>
            <a:pPr>
              <a:defRPr sz="1800"/>
            </a:pPr>
            <a:r>
              <a:t>• Time-based expiry (10 minutes)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4. Payment Verification Algorithm</a:t>
            </a:r>
          </a:p>
          <a:p>
            <a:pPr>
              <a:defRPr sz="1800"/>
            </a:pPr>
            <a:r>
              <a:t>• Signature validation using HMAC</a:t>
            </a:r>
          </a:p>
          <a:p>
            <a:pPr>
              <a:defRPr sz="1800"/>
            </a:pPr>
            <a:r>
              <a:t>• Order ID and payment ID matching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5. Location Tracking Algorithm</a:t>
            </a:r>
          </a:p>
          <a:p>
            <a:pPr>
              <a:defRPr sz="1800"/>
            </a:pPr>
            <a:r>
              <a:t>• GPS coordinate storage and retrieval</a:t>
            </a:r>
          </a:p>
          <a:p>
            <a:pPr>
              <a:defRPr sz="1800"/>
            </a:pPr>
            <a:r>
              <a:t>• Distance calculation for delivery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Technologies Used -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Programming &amp; Framework</a:t>
            </a:r>
          </a:p>
          <a:p>
            <a:pPr>
              <a:defRPr sz="1800"/>
            </a:pPr>
            <a:r>
              <a:t>• Python 3.x - Main programming language</a:t>
            </a:r>
          </a:p>
          <a:p>
            <a:pPr>
              <a:defRPr sz="1800"/>
            </a:pPr>
            <a:r>
              <a:t>• Flask - Web application framework</a:t>
            </a:r>
          </a:p>
          <a:p>
            <a:pPr>
              <a:defRPr sz="1800"/>
            </a:pPr>
            <a:r>
              <a:t>• SQLAlchemy - ORM for database operations</a:t>
            </a:r>
          </a:p>
          <a:p>
            <a:pPr>
              <a:defRPr sz="1800"/>
            </a:pPr>
            <a:r>
              <a:t>• Flask-Login - User session management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Database</a:t>
            </a:r>
          </a:p>
          <a:p>
            <a:pPr>
              <a:defRPr sz="1800"/>
            </a:pPr>
            <a:r>
              <a:t>• PostgreSQL - Relational database</a:t>
            </a:r>
          </a:p>
          <a:p>
            <a:pPr>
              <a:defRPr sz="1800"/>
            </a:pPr>
            <a:r>
              <a:t>• 13 database models (User, Order, Product, Delivery, etc.)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Security</a:t>
            </a:r>
          </a:p>
          <a:p>
            <a:pPr>
              <a:defRPr sz="1800"/>
            </a:pPr>
            <a:r>
              <a:t>• Werkzeug - Password hashing (PBKDF2-SHA256)</a:t>
            </a:r>
          </a:p>
          <a:p>
            <a:pPr>
              <a:defRPr sz="1800"/>
            </a:pPr>
            <a:r>
              <a:t>• RBAC - Role-based access control</a:t>
            </a:r>
          </a:p>
          <a:p>
            <a:pPr>
              <a:defRPr sz="1800"/>
            </a:pPr>
            <a:r>
              <a:t>• Environment Variables - Secure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Technologies Used -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Blockchain Stack</a:t>
            </a:r>
          </a:p>
          <a:p>
            <a:pPr>
              <a:defRPr sz="1800"/>
            </a:pPr>
            <a:r>
              <a:t>• Ethereum - Blockchain platform</a:t>
            </a:r>
          </a:p>
          <a:p>
            <a:pPr>
              <a:defRPr sz="1800"/>
            </a:pPr>
            <a:r>
              <a:t>• Solidity ^0.8.0 - Smart contract language</a:t>
            </a:r>
          </a:p>
          <a:p>
            <a:pPr>
              <a:defRPr sz="1800"/>
            </a:pPr>
            <a:r>
              <a:t>• Web3.py - Python-Ethereum integration</a:t>
            </a:r>
          </a:p>
          <a:p>
            <a:pPr>
              <a:defRPr sz="1800"/>
            </a:pPr>
            <a:r>
              <a:t>• Ganache - Local blockchain for development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Smart Contract</a:t>
            </a:r>
          </a:p>
          <a:p>
            <a:pPr>
              <a:defRPr sz="1800"/>
            </a:pPr>
            <a:r>
              <a:t>• OrderEscrow.sol (281 lines)</a:t>
            </a:r>
          </a:p>
          <a:p>
            <a:pPr>
              <a:defRPr sz="1800"/>
            </a:pPr>
            <a:r>
              <a:t>• 8 order states</a:t>
            </a:r>
          </a:p>
          <a:p>
            <a:pPr>
              <a:defRPr sz="1800"/>
            </a:pPr>
            <a:r>
              <a:t>• 6 main functions (create, confirm, deliver, release, refund)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Security Features</a:t>
            </a:r>
          </a:p>
          <a:p>
            <a:pPr>
              <a:defRPr sz="1800"/>
            </a:pPr>
            <a:r>
              <a:t>• Re-entrancy protection</a:t>
            </a:r>
          </a:p>
          <a:p>
            <a:pPr>
              <a:defRPr sz="1800"/>
            </a:pPr>
            <a:r>
              <a:t>• Access control (admin-only functions)</a:t>
            </a:r>
          </a:p>
          <a:p>
            <a:pPr>
              <a:defRPr sz="1800"/>
            </a:pPr>
            <a:r>
              <a:t>• Event logging for transparency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Technologies Used - Payment &amp;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Payment Integration</a:t>
            </a:r>
          </a:p>
          <a:p>
            <a:pPr>
              <a:defRPr sz="1800"/>
            </a:pPr>
            <a:r>
              <a:t>• Razorpay - Payment gateway</a:t>
            </a:r>
          </a:p>
          <a:p>
            <a:pPr>
              <a:defRPr sz="1800"/>
            </a:pPr>
            <a:r>
              <a:t>• HMAC-SHA256 - Signature verification</a:t>
            </a:r>
          </a:p>
          <a:p>
            <a:pPr>
              <a:defRPr sz="1800"/>
            </a:pPr>
            <a:r>
              <a:t>• Multiple payment methods (UPI, Cards, Net Banking, COD)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SMS/OTP</a:t>
            </a:r>
          </a:p>
          <a:p>
            <a:pPr>
              <a:defRPr sz="1800"/>
            </a:pPr>
            <a:r>
              <a:t>• Twilio SMS API - OTP delivery</a:t>
            </a:r>
          </a:p>
          <a:p>
            <a:pPr>
              <a:defRPr sz="1800"/>
            </a:pPr>
            <a:r>
              <a:t>• 6-digit OTP with 10-minute expiry</a:t>
            </a:r>
          </a:p>
          <a:p>
            <a:pPr>
              <a:defRPr sz="1600"/>
            </a:pPr>
          </a:p>
          <a:p>
            <a:pPr>
              <a:defRPr sz="2400" b="1">
                <a:solidFill>
                  <a:srgbClr val="0066CC"/>
                </a:solidFill>
              </a:defRPr>
            </a:pPr>
            <a:r>
              <a:t>Frontend</a:t>
            </a:r>
          </a:p>
          <a:p>
            <a:pPr>
              <a:defRPr sz="1800"/>
            </a:pPr>
            <a:r>
              <a:t>• HTML5 - Page structure</a:t>
            </a:r>
          </a:p>
          <a:p>
            <a:pPr>
              <a:defRPr sz="1800"/>
            </a:pPr>
            <a:r>
              <a:t>• CSS3 - Styling and responsive design</a:t>
            </a:r>
          </a:p>
          <a:p>
            <a:pPr>
              <a:defRPr sz="1800"/>
            </a:pPr>
            <a:r>
              <a:t>• JavaScript - Dynamic interactions</a:t>
            </a:r>
          </a:p>
          <a:p>
            <a:pPr>
              <a:defRPr sz="1800"/>
            </a:pPr>
            <a:r>
              <a:t>• Jinja2 - Template engine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Total: 18 Core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Blockchain Escrow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Smart Contract Escrow System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defRPr sz="2000" b="1"/>
            </a:pPr>
            <a:r>
              <a:t>1. Buyer pays → Funds locked in smart contract</a:t>
            </a:r>
          </a:p>
          <a:p>
            <a:pPr>
              <a:defRPr sz="2000" b="1"/>
            </a:pPr>
            <a:r>
              <a:t>2. Farmer confirms order → State updated on blockchain</a:t>
            </a:r>
          </a:p>
          <a:p>
            <a:pPr>
              <a:defRPr sz="2000" b="1"/>
            </a:pPr>
            <a:r>
              <a:t>3. Delivery assigned → Partner picks up order</a:t>
            </a:r>
          </a:p>
          <a:p>
            <a:pPr>
              <a:defRPr sz="2000" b="1"/>
            </a:pPr>
            <a:r>
              <a:t>4. Delivery completed → Proof submitted (photo/document)</a:t>
            </a:r>
          </a:p>
          <a:p>
            <a:pPr>
              <a:defRPr sz="2000" b="1"/>
            </a:pPr>
            <a:r>
              <a:t>5. Admin verifies → Smart contract releases funds to farmer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defRPr sz="1800"/>
            </a:pPr>
            <a:r>
              <a:t>• Farmers guaranteed payment after delivery</a:t>
            </a:r>
          </a:p>
          <a:p>
            <a:pPr>
              <a:defRPr sz="1800"/>
            </a:pPr>
            <a:r>
              <a:t>• Buyers protected from fraud (refund if no delivery)</a:t>
            </a:r>
          </a:p>
          <a:p>
            <a:pPr>
              <a:defRPr sz="1800"/>
            </a:pPr>
            <a:r>
              <a:t>• Transparent transaction history</a:t>
            </a:r>
          </a:p>
          <a:p>
            <a:pPr>
              <a:defRPr sz="1800"/>
            </a:pPr>
            <a:r>
              <a:t>• Automated fund release</a:t>
            </a:r>
          </a:p>
          <a:p>
            <a:pPr>
              <a:defRPr sz="1800"/>
            </a:pPr>
            <a:r>
              <a:t>• Immutable records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**Technology:** Solidity smart contract + Web3.py + Ethereum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Payment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Razorpay Payment Gateway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Implementation:</a:t>
            </a:r>
          </a:p>
          <a:p>
            <a:pPr>
              <a:defRPr sz="2000" b="1"/>
            </a:pPr>
            <a:r>
              <a:t>1. Order Creation</a:t>
            </a:r>
          </a:p>
          <a:p>
            <a:pPr>
              <a:defRPr sz="1800"/>
            </a:pPr>
            <a:r>
              <a:t>• Backend creates Razorpay order</a:t>
            </a:r>
          </a:p>
          <a:p>
            <a:pPr>
              <a:defRPr sz="1800"/>
            </a:pPr>
            <a:r>
              <a:t>• Amount converted to paise (INR × 100)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2. Payment Processing</a:t>
            </a:r>
          </a:p>
          <a:p>
            <a:pPr>
              <a:defRPr sz="1800"/>
            </a:pPr>
            <a:r>
              <a:t>• Frontend displays Razorpay checkout</a:t>
            </a:r>
          </a:p>
          <a:p>
            <a:pPr>
              <a:defRPr sz="1800"/>
            </a:pPr>
            <a:r>
              <a:t>• User selects payment method (UPI/Card/Net Banking)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3. Verification</a:t>
            </a:r>
          </a:p>
          <a:p>
            <a:pPr>
              <a:defRPr sz="1800"/>
            </a:pPr>
            <a:r>
              <a:t>• Backend verifies HMAC-SHA256 signature</a:t>
            </a:r>
          </a:p>
          <a:p>
            <a:pPr>
              <a:defRPr sz="1800"/>
            </a:pPr>
            <a:r>
              <a:t>• Validates payment authenticity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4. Blockchain Integration</a:t>
            </a:r>
          </a:p>
          <a:p>
            <a:pPr>
              <a:defRPr sz="1800"/>
            </a:pPr>
            <a:r>
              <a:t>• Payment amount sent to smart contract</a:t>
            </a:r>
          </a:p>
          <a:p>
            <a:pPr>
              <a:defRPr sz="1800"/>
            </a:pPr>
            <a:r>
              <a:t>• Funds locked in escrow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**Security:** Signature verification prevents tampering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Multi-Role User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4 User Roles with Different Dashboards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1. Buyer</a:t>
            </a:r>
          </a:p>
          <a:p>
            <a:pPr>
              <a:defRPr sz="1800"/>
            </a:pPr>
            <a:r>
              <a:t>• Browse products by category</a:t>
            </a:r>
          </a:p>
          <a:p>
            <a:pPr>
              <a:defRPr sz="1800"/>
            </a:pPr>
            <a:r>
              <a:t>• Add to cart and checkout</a:t>
            </a:r>
          </a:p>
          <a:p>
            <a:pPr>
              <a:defRPr sz="1800"/>
            </a:pPr>
            <a:r>
              <a:t>• Track order status and delivery</a:t>
            </a:r>
          </a:p>
          <a:p>
            <a:pPr>
              <a:defRPr sz="1800"/>
            </a:pPr>
            <a:r>
              <a:t>• View order history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2. Farmer</a:t>
            </a:r>
          </a:p>
          <a:p>
            <a:pPr>
              <a:defRPr sz="1800"/>
            </a:pPr>
            <a:r>
              <a:t>• List products with images and pricing</a:t>
            </a:r>
          </a:p>
          <a:p>
            <a:pPr>
              <a:defRPr sz="1800"/>
            </a:pPr>
            <a:r>
              <a:t>• Manage inventory and stock</a:t>
            </a:r>
          </a:p>
          <a:p>
            <a:pPr>
              <a:defRPr sz="1800"/>
            </a:pPr>
            <a:r>
              <a:t>• Confirm orders</a:t>
            </a:r>
          </a:p>
          <a:p>
            <a:pPr>
              <a:defRPr sz="1800"/>
            </a:pPr>
            <a:r>
              <a:t>• View sales and earnings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3. Delivery Partner</a:t>
            </a:r>
          </a:p>
          <a:p>
            <a:pPr>
              <a:defRPr sz="1800"/>
            </a:pPr>
            <a:r>
              <a:t>• View assigned deliveries</a:t>
            </a:r>
          </a:p>
          <a:p>
            <a:pPr>
              <a:defRPr sz="1800"/>
            </a:pPr>
            <a:r>
              <a:t>• Update delivery status</a:t>
            </a:r>
          </a:p>
          <a:p>
            <a:pPr>
              <a:defRPr sz="1800"/>
            </a:pPr>
            <a:r>
              <a:t>• Submit proof of delivery</a:t>
            </a:r>
          </a:p>
          <a:p>
            <a:pPr>
              <a:defRPr sz="1800"/>
            </a:pPr>
            <a:r>
              <a:t>• Track earnings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4. Admin</a:t>
            </a:r>
          </a:p>
          <a:p>
            <a:pPr>
              <a:defRPr sz="1800"/>
            </a:pPr>
            <a:r>
              <a:t>• Approve farmers and delivery partners</a:t>
            </a:r>
          </a:p>
          <a:p>
            <a:pPr>
              <a:defRPr sz="1800"/>
            </a:pPr>
            <a:r>
              <a:t>• Assign deliveries</a:t>
            </a:r>
          </a:p>
          <a:p>
            <a:pPr>
              <a:defRPr sz="1800"/>
            </a:pPr>
            <a:r>
              <a:t>• Monitor all orders</a:t>
            </a:r>
          </a:p>
          <a:p>
            <a:pPr>
              <a:defRPr sz="1800"/>
            </a:pPr>
            <a:r>
              <a:t>• Manage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Order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Complete Order Lifecycle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Order States (9 stages):</a:t>
            </a:r>
          </a:p>
          <a:p>
            <a:pPr>
              <a:defRPr sz="2000" b="1"/>
            </a:pPr>
            <a:r>
              <a:t>1. PENDING_PAYMENT - Order created, awaiting payment</a:t>
            </a:r>
          </a:p>
          <a:p>
            <a:pPr>
              <a:defRPr sz="2000" b="1"/>
            </a:pPr>
            <a:r>
              <a:t>2. PAID - Payment received, funds in escrow</a:t>
            </a:r>
          </a:p>
          <a:p>
            <a:pPr>
              <a:defRPr sz="2000" b="1"/>
            </a:pPr>
            <a:r>
              <a:t>3. FARMER_CONFIRMED - Farmer accepted order</a:t>
            </a:r>
          </a:p>
          <a:p>
            <a:pPr>
              <a:defRPr sz="2000" b="1"/>
            </a:pPr>
            <a:r>
              <a:t>4. ASSIGNED_DELIVERY - Delivery partner assigned</a:t>
            </a:r>
          </a:p>
          <a:p>
            <a:pPr>
              <a:defRPr sz="2000" b="1"/>
            </a:pPr>
            <a:r>
              <a:t>5. OUT_FOR_DELIVERY - Order picked up</a:t>
            </a:r>
          </a:p>
          <a:p>
            <a:pPr>
              <a:defRPr sz="2000" b="1"/>
            </a:pPr>
            <a:r>
              <a:t>6. DELIVERED - Order delivered to buyer</a:t>
            </a:r>
          </a:p>
          <a:p>
            <a:pPr>
              <a:defRPr sz="2000" b="1"/>
            </a:pPr>
            <a:r>
              <a:t>7. COMPLETED - Funds released to farmer</a:t>
            </a:r>
          </a:p>
          <a:p>
            <a:pPr>
              <a:defRPr sz="2000" b="1"/>
            </a:pPr>
            <a:r>
              <a:t>8. REFUNDED - Payment returned to buyer</a:t>
            </a:r>
          </a:p>
          <a:p>
            <a:pPr>
              <a:defRPr sz="2000" b="1"/>
            </a:pPr>
            <a:r>
              <a:t>9. CANCELLED - Order cancelled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defRPr sz="1800"/>
            </a:pPr>
            <a:r>
              <a:t>• Real-time status updates</a:t>
            </a:r>
          </a:p>
          <a:p>
            <a:pPr>
              <a:defRPr sz="1800"/>
            </a:pPr>
            <a:r>
              <a:t>• Email/SMS notifications</a:t>
            </a:r>
          </a:p>
          <a:p>
            <a:pPr>
              <a:defRPr sz="1800"/>
            </a:pPr>
            <a:r>
              <a:t>• Order tracking for all stakeholders</a:t>
            </a:r>
          </a:p>
          <a:p>
            <a:pPr>
              <a:defRPr sz="1800"/>
            </a:pPr>
            <a:r>
              <a:t>• Blockchain state synchronization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Delivery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Real-Time Delivery Management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Implementation: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1. Assignment System</a:t>
            </a:r>
          </a:p>
          <a:p>
            <a:pPr>
              <a:defRPr sz="1800"/>
            </a:pPr>
            <a:r>
              <a:t>• Admin assigns available delivery partners</a:t>
            </a:r>
          </a:p>
          <a:p>
            <a:pPr>
              <a:defRPr sz="1800"/>
            </a:pPr>
            <a:r>
              <a:t>• Partners receive notifications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2. Location Tracking</a:t>
            </a:r>
          </a:p>
          <a:p>
            <a:pPr>
              <a:defRPr sz="1800"/>
            </a:pPr>
            <a:r>
              <a:t>• GPS coordinates stored in database</a:t>
            </a:r>
          </a:p>
          <a:p>
            <a:pPr>
              <a:defRPr sz="1800"/>
            </a:pPr>
            <a:r>
              <a:t>• Real-time location updates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3. Status Updates</a:t>
            </a:r>
          </a:p>
          <a:p>
            <a:pPr>
              <a:defRPr sz="1800"/>
            </a:pPr>
            <a:r>
              <a:t>• ASSIGNED → PICKED_UP → IN_TRANSIT → DELIVERED</a:t>
            </a:r>
          </a:p>
          <a:p>
            <a:pPr>
              <a:defRPr sz="1800"/>
            </a:pPr>
            <a:r>
              <a:t>• Timestamp tracking for each stage</a:t>
            </a:r>
          </a:p>
          <a:p>
            <a:pPr>
              <a:defRPr sz="1600"/>
            </a:pPr>
          </a:p>
          <a:p>
            <a:pPr>
              <a:defRPr sz="2000" b="1"/>
            </a:pPr>
            <a:r>
              <a:t>4. Proof of Delivery</a:t>
            </a:r>
          </a:p>
          <a:p>
            <a:pPr>
              <a:defRPr sz="1800"/>
            </a:pPr>
            <a:r>
              <a:t>• Photo/document upload</a:t>
            </a:r>
          </a:p>
          <a:p>
            <a:pPr>
              <a:defRPr sz="1800"/>
            </a:pPr>
            <a:r>
              <a:t>• Hash stored on blockchain (immutable)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**Technology:** GPS + PostgreSQL + Blockchain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Feature: Multi-Layer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Security Implementation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1. Authentication &amp; Authorization</a:t>
            </a:r>
          </a:p>
          <a:p>
            <a:pPr>
              <a:defRPr sz="1800"/>
            </a:pPr>
            <a:r>
              <a:t>• Password hashing (PBKDF2-SHA256)</a:t>
            </a:r>
          </a:p>
          <a:p>
            <a:pPr>
              <a:defRPr sz="1800"/>
            </a:pPr>
            <a:r>
              <a:t>• Session-based authentication (Flask-Login)</a:t>
            </a:r>
          </a:p>
          <a:p>
            <a:pPr>
              <a:defRPr sz="1800"/>
            </a:pPr>
            <a:r>
              <a:t>• Role-based access control (RBAC)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2. Payment Security</a:t>
            </a:r>
          </a:p>
          <a:p>
            <a:pPr>
              <a:defRPr sz="1800"/>
            </a:pPr>
            <a:r>
              <a:t>• Razorpay signature verification (HMAC-SHA256)</a:t>
            </a:r>
          </a:p>
          <a:p>
            <a:pPr>
              <a:defRPr sz="1800"/>
            </a:pPr>
            <a:r>
              <a:t>• HTTPS for payment pages</a:t>
            </a:r>
          </a:p>
          <a:p>
            <a:pPr>
              <a:defRPr sz="1800"/>
            </a:pPr>
            <a:r>
              <a:t>• PCI-DSS compliant gateway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3. Blockchain Security</a:t>
            </a:r>
          </a:p>
          <a:p>
            <a:pPr>
              <a:defRPr sz="1800"/>
            </a:pPr>
            <a:r>
              <a:t>• Smart contract access control</a:t>
            </a:r>
          </a:p>
          <a:p>
            <a:pPr>
              <a:defRPr sz="1800"/>
            </a:pPr>
            <a:r>
              <a:t>• Admin-only critical functions</a:t>
            </a:r>
          </a:p>
          <a:p>
            <a:pPr>
              <a:defRPr sz="1800"/>
            </a:pPr>
            <a:r>
              <a:t>• Re-entrancy attack prevention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4. Data Protection</a:t>
            </a:r>
          </a:p>
          <a:p>
            <a:pPr>
              <a:defRPr sz="1800"/>
            </a:pPr>
            <a:r>
              <a:t>• Environment variables for secrets</a:t>
            </a:r>
          </a:p>
          <a:p>
            <a:pPr>
              <a:defRPr sz="1800"/>
            </a:pPr>
            <a:r>
              <a:t>• SQL injection prevention (ORM)</a:t>
            </a:r>
          </a:p>
          <a:p>
            <a:pPr>
              <a:defRPr sz="1800"/>
            </a:pPr>
            <a:r>
              <a:t>• Audit logging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Project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Development Metrics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Codebase:</a:t>
            </a:r>
          </a:p>
          <a:p>
            <a:pPr>
              <a:defRPr sz="1800"/>
            </a:pPr>
            <a:r>
              <a:t>• 15+ Python files</a:t>
            </a:r>
          </a:p>
          <a:p>
            <a:pPr>
              <a:defRPr sz="1800"/>
            </a:pPr>
            <a:r>
              <a:t>• 13 database models</a:t>
            </a:r>
          </a:p>
          <a:p>
            <a:pPr>
              <a:defRPr sz="1800"/>
            </a:pPr>
            <a:r>
              <a:t>• 8 API route modules</a:t>
            </a:r>
          </a:p>
          <a:p>
            <a:pPr>
              <a:defRPr sz="1800"/>
            </a:pPr>
            <a:r>
              <a:t>• 281-line smart contract (Solidity)</a:t>
            </a:r>
          </a:p>
          <a:p>
            <a:pPr>
              <a:defRPr sz="1800"/>
            </a:pPr>
            <a:r>
              <a:t>• 30+ HTML templates</a:t>
            </a:r>
          </a:p>
          <a:p>
            <a:pPr>
              <a:defRPr sz="1800"/>
            </a:pPr>
            <a:r>
              <a:t>• 7 comprehensive test suites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Features:</a:t>
            </a:r>
          </a:p>
          <a:p>
            <a:pPr>
              <a:defRPr sz="1800"/>
            </a:pPr>
            <a:r>
              <a:t>• 4 user roles</a:t>
            </a:r>
          </a:p>
          <a:p>
            <a:pPr>
              <a:defRPr sz="1800"/>
            </a:pPr>
            <a:r>
              <a:t>• 9 order lifecycle stages</a:t>
            </a:r>
          </a:p>
          <a:p>
            <a:pPr>
              <a:defRPr sz="1800"/>
            </a:pPr>
            <a:r>
              <a:t>• 8 blockchain escrow states</a:t>
            </a:r>
          </a:p>
          <a:p>
            <a:pPr>
              <a:defRPr sz="1800"/>
            </a:pPr>
            <a:r>
              <a:t>• 18 core technologies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Impact:</a:t>
            </a:r>
          </a:p>
          <a:p>
            <a:pPr>
              <a:defRPr sz="1800"/>
            </a:pPr>
            <a:r>
              <a:t>• 30-50% farmer profit increase</a:t>
            </a:r>
          </a:p>
          <a:p>
            <a:pPr>
              <a:defRPr sz="1800"/>
            </a:pPr>
            <a:r>
              <a:t>• 15-25% consumer cost savings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Multi-Tier Architecture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Frontend Layer</a:t>
            </a:r>
          </a:p>
          <a:p>
            <a:pPr>
              <a:defRPr sz="1800"/>
            </a:pPr>
            <a:r>
              <a:t>• HTML/CSS/JavaScript templates</a:t>
            </a:r>
          </a:p>
          <a:p>
            <a:pPr>
              <a:defRPr sz="1800"/>
            </a:pPr>
            <a:r>
              <a:t>• Jinja2 dynamic rendering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Application Layer</a:t>
            </a:r>
          </a:p>
          <a:p>
            <a:pPr>
              <a:defRPr sz="1800"/>
            </a:pPr>
            <a:r>
              <a:t>• Flask web server</a:t>
            </a:r>
          </a:p>
          <a:p>
            <a:pPr>
              <a:defRPr sz="1800"/>
            </a:pPr>
            <a:r>
              <a:t>• 8 route modules (auth, buyer, farmer, admin, delivery, payment)</a:t>
            </a:r>
          </a:p>
          <a:p>
            <a:pPr>
              <a:defRPr sz="1800"/>
            </a:pPr>
            <a:r>
              <a:t>• 3 service modules (blockchain, payment, notification)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Data Layer</a:t>
            </a:r>
          </a:p>
          <a:p>
            <a:pPr>
              <a:defRPr sz="1800"/>
            </a:pPr>
            <a:r>
              <a:t>• PostgreSQL database (13 tables)</a:t>
            </a:r>
          </a:p>
          <a:p>
            <a:pPr>
              <a:defRPr sz="1800"/>
            </a:pPr>
            <a:r>
              <a:t>• SQLAlchemy ORM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Blockchain Layer</a:t>
            </a:r>
          </a:p>
          <a:p>
            <a:pPr>
              <a:defRPr sz="1800"/>
            </a:pPr>
            <a:r>
              <a:t>• Ethereum blockchain (Ganache)</a:t>
            </a:r>
          </a:p>
          <a:p>
            <a:pPr>
              <a:defRPr sz="1800"/>
            </a:pPr>
            <a:r>
              <a:t>• OrderEscrow smart contract</a:t>
            </a:r>
          </a:p>
          <a:p>
            <a:pPr>
              <a:defRPr sz="1800"/>
            </a:pPr>
            <a:r>
              <a:t>• Web3.py integration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External Services</a:t>
            </a:r>
          </a:p>
          <a:p>
            <a:pPr>
              <a:defRPr sz="1800"/>
            </a:pPr>
            <a:r>
              <a:t>• Razorpay payment gateway</a:t>
            </a:r>
          </a:p>
          <a:p>
            <a:pPr>
              <a:defRPr sz="1800"/>
            </a:pPr>
            <a:r>
              <a:t>• Twilio SMS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Project Summary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What We Built:</a:t>
            </a:r>
          </a:p>
          <a:p>
            <a:pPr>
              <a:defRPr sz="1600"/>
            </a:pPr>
            <a:r>
              <a:t>A blockchain-powered marketplace connecting farmers directly with consumers,</a:t>
            </a:r>
          </a:p>
          <a:p>
            <a:pPr>
              <a:defRPr sz="1600"/>
            </a:pPr>
            <a:r>
              <a:t>featuring secure escrow payments and real-time delivery tracking.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Key Achievements:</a:t>
            </a:r>
          </a:p>
          <a:p>
            <a:pPr>
              <a:defRPr sz="1800"/>
            </a:pPr>
            <a:r>
              <a:t>✅ Blockchain escrow for payment security</a:t>
            </a:r>
          </a:p>
          <a:p>
            <a:pPr>
              <a:defRPr sz="1800"/>
            </a:pPr>
            <a:r>
              <a:t>✅ Multi-role platform (4 user types)</a:t>
            </a:r>
          </a:p>
          <a:p>
            <a:pPr>
              <a:defRPr sz="1800"/>
            </a:pPr>
            <a:r>
              <a:t>✅ Complete order lifecycle management</a:t>
            </a:r>
          </a:p>
          <a:p>
            <a:pPr>
              <a:defRPr sz="1800"/>
            </a:pPr>
            <a:r>
              <a:t>✅ Razorpay payment integration</a:t>
            </a:r>
          </a:p>
          <a:p>
            <a:pPr>
              <a:defRPr sz="1800"/>
            </a:pPr>
            <a:r>
              <a:t>✅ Real-time delivery tracking</a:t>
            </a:r>
          </a:p>
          <a:p>
            <a:pPr>
              <a:defRPr sz="1800"/>
            </a:pPr>
            <a:r>
              <a:t>✅ Multi-layer security implementation</a:t>
            </a:r>
          </a:p>
          <a:p>
            <a:pPr>
              <a:defRPr sz="1600"/>
            </a:pPr>
          </a:p>
          <a:p>
            <a:pPr>
              <a:defRPr sz="2200" b="1">
                <a:solidFill>
                  <a:srgbClr val="333333"/>
                </a:solidFill>
              </a:defRPr>
            </a:pPr>
            <a:r>
              <a:t>Impact:</a:t>
            </a:r>
          </a:p>
          <a:p>
            <a:pPr>
              <a:defRPr sz="1600"/>
            </a:pPr>
            <a:r>
              <a:t>Empowering farmers with fair prices and guaranteed payments,</a:t>
            </a:r>
          </a:p>
          <a:p>
            <a:pPr>
              <a:defRPr sz="1600"/>
            </a:pPr>
            <a:r>
              <a:t>while providing consumers with fresh products at lower costs.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**Technologies:** 18 core technologies including Python, Flask, Ethereum,</a:t>
            </a:r>
          </a:p>
          <a:p>
            <a:pPr>
              <a:defRPr sz="1600"/>
            </a:pPr>
            <a:r>
              <a:t>Solidity, PostgreSQL, Razorpay, and Twilio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